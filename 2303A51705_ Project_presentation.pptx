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FCFS</c:v>
                </c:pt>
                <c:pt idx="1">
                  <c:v>Round Robin</c:v>
                </c:pt>
                <c:pt idx="2">
                  <c:v>Static Priority</c:v>
                </c:pt>
                <c:pt idx="3">
                  <c:v>Our System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71</c:v>
                </c:pt>
                <c:pt idx="3">
                  <c:v>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42bbf7c-f433-4136-a8ae-cea31ae1db00}"/>
      </c:ext>
    </c:extLst>
  </c:chart>
  <c:spPr>
    <a:solidFill>
      <a:srgbClr val="FAFAF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hyperlink" Target="https://niharika1694.github.io/SMART-TRAFFIC_AIA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2286000"/>
          </a:xfrm>
          <a:prstGeom prst="rect">
            <a:avLst/>
          </a:prstGeom>
          <a:solidFill>
            <a:srgbClr val="1A3A6C"/>
          </a:solidFill>
        </p:spPr>
      </p:sp>
      <p:sp>
        <p:nvSpPr>
          <p:cNvPr id="4" name="Shape 2"/>
          <p:cNvSpPr/>
          <p:nvPr/>
        </p:nvSpPr>
        <p:spPr>
          <a:xfrm>
            <a:off x="6858000" y="2286000"/>
            <a:ext cx="2286000" cy="2857500"/>
          </a:xfrm>
          <a:prstGeom prst="rect">
            <a:avLst/>
          </a:prstGeom>
          <a:solidFill>
            <a:srgbClr val="0D2340"/>
          </a:solidFill>
        </p:spPr>
      </p:sp>
      <p:sp>
        <p:nvSpPr>
          <p:cNvPr id="5" name="Shape 3"/>
          <p:cNvSpPr/>
          <p:nvPr/>
        </p:nvSpPr>
        <p:spPr>
          <a:xfrm>
            <a:off x="6217920" y="274320"/>
            <a:ext cx="109728" cy="10972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645920"/>
            <a:ext cx="73152" cy="7315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274320"/>
            <a:ext cx="109728" cy="10972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1645920"/>
            <a:ext cx="73152" cy="7315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274320"/>
            <a:ext cx="109728" cy="10972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645920"/>
            <a:ext cx="73152" cy="7315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274320"/>
            <a:ext cx="109728" cy="10972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1645920"/>
            <a:ext cx="73152" cy="7315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274320"/>
            <a:ext cx="109728" cy="10972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645920"/>
            <a:ext cx="73152" cy="7315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4320"/>
            <a:ext cx="2011680" cy="41148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16" name="Text 14"/>
          <p:cNvSpPr/>
          <p:nvPr/>
        </p:nvSpPr>
        <p:spPr>
          <a:xfrm>
            <a:off x="365760" y="27432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SR UNIVERSITY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914400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Deep Learning-Driven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65760" y="1463040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96F3"/>
                </a:solidFill>
              </a:rPr>
              <a:t>Confidence-Weighted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65760" y="2011680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Shared Memory Arbitration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65760" y="2560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BCD4"/>
                </a:solidFill>
              </a:rPr>
              <a:t>for Multi-Agent Systems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" y="30632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0B4CC"/>
                </a:solidFill>
              </a:rPr>
              <a:t>Using MobileNet &amp; Wild Bear Optimization Algorithm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3200400" cy="27432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23" name="Text 21"/>
          <p:cNvSpPr/>
          <p:nvPr/>
        </p:nvSpPr>
        <p:spPr>
          <a:xfrm>
            <a:off x="365760" y="36118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C107"/>
                </a:solidFill>
              </a:rPr>
              <a:t>Inventors: </a:t>
            </a:r>
            <a:r>
              <a:rPr lang="en-US" sz="1000" dirty="0">
                <a:solidFill>
                  <a:srgbClr val="A0B4CC"/>
                </a:solidFill>
              </a:rPr>
              <a:t>Mr. Naresh Kumar Sripada (Asst. Professor, CS&amp;AI)  |  Niharika Pasunuri  |  Bhargava Chary Bandloju  |  Sushmitha Uppula  |  Sandeep Denchanadula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0233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07D8B"/>
                </a:solidFill>
              </a:rPr>
              <a:t>Department of Computer Science  |  Patent Invention Disclosure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4663440"/>
            <a:ext cx="1554480" cy="292608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6" name="Text 24"/>
          <p:cNvSpPr/>
          <p:nvPr/>
        </p:nvSpPr>
        <p:spPr>
          <a:xfrm>
            <a:off x="7315200" y="466344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5" name="Text 3"/>
          <p:cNvSpPr/>
          <p:nvPr/>
        </p:nvSpPr>
        <p:spPr>
          <a:xfrm>
            <a:off x="8503920" y="914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196F3"/>
                </a:solidFill>
              </a:rPr>
              <a:t>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In multi-agent systems, multiple agents compete for shared resources like memory and CPU. Traditional scheduling methods fall short in dynamic environments.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697480" cy="26517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2697480" cy="64008"/>
          </a:xfrm>
          <a:prstGeom prst="rect">
            <a:avLst/>
          </a:prstGeom>
          <a:solidFill>
            <a:srgbClr val="EF5350"/>
          </a:solidFill>
        </p:spPr>
      </p:sp>
      <p:sp>
        <p:nvSpPr>
          <p:cNvPr id="9" name="Shape 7"/>
          <p:cNvSpPr/>
          <p:nvPr/>
        </p:nvSpPr>
        <p:spPr>
          <a:xfrm>
            <a:off x="1371600" y="1965960"/>
            <a:ext cx="594360" cy="59436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No Priority Intelligence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2423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FCFS &amp; Round Robin ignore the importance of agents' data, causing critical tasks to wait behind trivial ones.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2697480" cy="26517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828800"/>
            <a:ext cx="2697480" cy="64008"/>
          </a:xfrm>
          <a:prstGeom prst="rect">
            <a:avLst/>
          </a:prstGeom>
          <a:solidFill>
            <a:srgbClr val="FF9800"/>
          </a:solidFill>
        </p:spPr>
      </p:sp>
      <p:sp>
        <p:nvSpPr>
          <p:cNvPr id="15" name="Shape 13"/>
          <p:cNvSpPr/>
          <p:nvPr/>
        </p:nvSpPr>
        <p:spPr>
          <a:xfrm>
            <a:off x="4251960" y="1965960"/>
            <a:ext cx="594360" cy="59436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37560" y="265176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Static &amp; Inflexible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200400"/>
            <a:ext cx="2423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Fixed-priority and heuristic methods cannot adapt to rapidly changing environments in real-time.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828800"/>
            <a:ext cx="2697480" cy="26517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828800"/>
            <a:ext cx="2697480" cy="64008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21" name="Shape 19"/>
          <p:cNvSpPr/>
          <p:nvPr/>
        </p:nvSpPr>
        <p:spPr>
          <a:xfrm>
            <a:off x="7132320" y="1965960"/>
            <a:ext cx="594360" cy="59436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265176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Resource Inefficiency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200400"/>
            <a:ext cx="2423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Without confidence-based allocation, valuable shared memory is given to low-priority agents, degrading overall performance.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26" name="Text 24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Key Challenge: No existing system combines deep learning confidence scoring with shared memory arbitration for multi-agent environments.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6C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SOLUTION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5" name="Text 3"/>
          <p:cNvSpPr/>
          <p:nvPr/>
        </p:nvSpPr>
        <p:spPr>
          <a:xfrm>
            <a:off x="8503920" y="914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CD4"/>
                </a:solidFill>
              </a:rPr>
              <a:t>03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548640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7" name="Shape 5"/>
          <p:cNvSpPr/>
          <p:nvPr/>
        </p:nvSpPr>
        <p:spPr>
          <a:xfrm>
            <a:off x="365760" y="1143000"/>
            <a:ext cx="73152" cy="54864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8" name="Text 6"/>
          <p:cNvSpPr/>
          <p:nvPr/>
        </p:nvSpPr>
        <p:spPr>
          <a:xfrm>
            <a:off x="594360" y="114300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An intelligent arbitration system combining Deep Learning, MobileNet Classification, Confidence Scoring &amp; Wild Bear Optimization for dynamic memory management.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4160520" cy="1325880"/>
          </a:xfrm>
          <a:prstGeom prst="rect">
            <a:avLst/>
          </a:prstGeom>
          <a:solidFill>
            <a:srgbClr val="F0F4F8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74520"/>
            <a:ext cx="73152" cy="132588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11" name="Shape 9"/>
          <p:cNvSpPr/>
          <p:nvPr/>
        </p:nvSpPr>
        <p:spPr>
          <a:xfrm>
            <a:off x="484632" y="2057400"/>
            <a:ext cx="502920" cy="5029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057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4712" y="196596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</a:rPr>
              <a:t>MobileNet Classification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4712" y="235000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Lightweight deep learning model for real-time feature extraction and agent data classification.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874520"/>
            <a:ext cx="4160520" cy="1325880"/>
          </a:xfrm>
          <a:prstGeom prst="rect">
            <a:avLst/>
          </a:prstGeom>
          <a:solidFill>
            <a:srgbClr val="F0F4F8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874520"/>
            <a:ext cx="73152" cy="132588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7" name="Shape 15"/>
          <p:cNvSpPr/>
          <p:nvPr/>
        </p:nvSpPr>
        <p:spPr>
          <a:xfrm>
            <a:off x="4873752" y="2057400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057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13832" y="196596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</a:rPr>
              <a:t>Confidence Score Generation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13832" y="235000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Generates reliability scores (Cᵢ) per agent to quantify data trustworthiness dynamically.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383280"/>
            <a:ext cx="4160520" cy="1325880"/>
          </a:xfrm>
          <a:prstGeom prst="rect">
            <a:avLst/>
          </a:prstGeom>
          <a:solidFill>
            <a:srgbClr val="F0F4F8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83280"/>
            <a:ext cx="73152" cy="13258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Shape 21"/>
          <p:cNvSpPr/>
          <p:nvPr/>
        </p:nvSpPr>
        <p:spPr>
          <a:xfrm>
            <a:off x="484632" y="356616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566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347472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</a:rPr>
              <a:t>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4712" y="385876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Bio-inspired optimization algorithm computes adaptive priority values (Pᵢ) for each agent.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383280"/>
            <a:ext cx="4160520" cy="1325880"/>
          </a:xfrm>
          <a:prstGeom prst="rect">
            <a:avLst/>
          </a:prstGeom>
          <a:solidFill>
            <a:srgbClr val="F0F4F8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383280"/>
            <a:ext cx="73152" cy="132588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29" name="Shape 27"/>
          <p:cNvSpPr/>
          <p:nvPr/>
        </p:nvSpPr>
        <p:spPr>
          <a:xfrm>
            <a:off x="4873752" y="3566160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3566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13832" y="347472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</a:rPr>
              <a:t>Memory Arbitration Engine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13832" y="385876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Selects highest-priority agent and allocates shared memory in real-time with minimal conflicts.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E3F2FD"/>
          </a:solidFill>
        </p:spPr>
      </p:sp>
      <p:sp>
        <p:nvSpPr>
          <p:cNvPr id="34" name="Shape 32"/>
          <p:cNvSpPr/>
          <p:nvPr/>
        </p:nvSpPr>
        <p:spPr>
          <a:xfrm>
            <a:off x="320040" y="4736592"/>
            <a:ext cx="54864" cy="27432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35" name="Text 33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6C"/>
                </a:solidFill>
              </a:rPr>
              <a:t>System tested in Python + TensorFlow environment at SR University — demonstrating higher accuracy, lower latency, and fewer conflicts vs traditional methods.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020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5" name="Text 3"/>
          <p:cNvSpPr/>
          <p:nvPr/>
        </p:nvSpPr>
        <p:spPr>
          <a:xfrm>
            <a:off x="8503920" y="914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CD4"/>
                </a:solidFill>
              </a:rPr>
              <a:t>04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508760" cy="1188720"/>
          </a:xfrm>
          <a:prstGeom prst="rect">
            <a:avLst/>
          </a:prstGeom>
          <a:solidFill>
            <a:srgbClr val="1A3A6C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1508760" cy="54864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8" name="Shape 6"/>
          <p:cNvSpPr/>
          <p:nvPr/>
        </p:nvSpPr>
        <p:spPr>
          <a:xfrm>
            <a:off x="822960" y="1188720"/>
            <a:ext cx="502920" cy="5029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188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" y="1746504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Multi-Agent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Input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1627632"/>
            <a:ext cx="182880" cy="64008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12" name="Text 10"/>
          <p:cNvSpPr/>
          <p:nvPr/>
        </p:nvSpPr>
        <p:spPr>
          <a:xfrm>
            <a:off x="1947672" y="1536192"/>
            <a:ext cx="137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196F3"/>
                </a:solidFill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39112" y="1078992"/>
            <a:ext cx="1508760" cy="1188720"/>
          </a:xfrm>
          <a:prstGeom prst="rect">
            <a:avLst/>
          </a:prstGeom>
          <a:solidFill>
            <a:srgbClr val="1A3A6C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1078992"/>
            <a:ext cx="1508760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5" name="Shape 13"/>
          <p:cNvSpPr/>
          <p:nvPr/>
        </p:nvSpPr>
        <p:spPr>
          <a:xfrm>
            <a:off x="2542032" y="1188720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188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12264" y="1746504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Collection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47872" y="1627632"/>
            <a:ext cx="182880" cy="6400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9" name="Text 17"/>
          <p:cNvSpPr/>
          <p:nvPr/>
        </p:nvSpPr>
        <p:spPr>
          <a:xfrm>
            <a:off x="3666744" y="1536192"/>
            <a:ext cx="137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CD4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58184" y="1078992"/>
            <a:ext cx="1508760" cy="1188720"/>
          </a:xfrm>
          <a:prstGeom prst="rect">
            <a:avLst/>
          </a:prstGeom>
          <a:solidFill>
            <a:srgbClr val="1A3A6C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8184" y="1078992"/>
            <a:ext cx="1508760" cy="54864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22" name="Shape 20"/>
          <p:cNvSpPr/>
          <p:nvPr/>
        </p:nvSpPr>
        <p:spPr>
          <a:xfrm>
            <a:off x="4261104" y="1188720"/>
            <a:ext cx="502920" cy="50292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61104" y="1188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31336" y="1746504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Segmentation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Module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66944" y="1627632"/>
            <a:ext cx="182880" cy="64008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26" name="Text 24"/>
          <p:cNvSpPr/>
          <p:nvPr/>
        </p:nvSpPr>
        <p:spPr>
          <a:xfrm>
            <a:off x="5385816" y="1536192"/>
            <a:ext cx="137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27B0"/>
                </a:solidFill>
              </a:rPr>
              <a:t>▶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77256" y="1078992"/>
            <a:ext cx="1508760" cy="1188720"/>
          </a:xfrm>
          <a:prstGeom prst="rect">
            <a:avLst/>
          </a:prstGeom>
          <a:solidFill>
            <a:srgbClr val="1A3A6C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77256" y="1078992"/>
            <a:ext cx="1508760" cy="54864"/>
          </a:xfrm>
          <a:prstGeom prst="rect">
            <a:avLst/>
          </a:prstGeom>
          <a:solidFill>
            <a:srgbClr val="FF9800"/>
          </a:solidFill>
        </p:spPr>
      </p:sp>
      <p:sp>
        <p:nvSpPr>
          <p:cNvPr id="29" name="Shape 27"/>
          <p:cNvSpPr/>
          <p:nvPr/>
        </p:nvSpPr>
        <p:spPr>
          <a:xfrm>
            <a:off x="5980176" y="1188720"/>
            <a:ext cx="502920" cy="50292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0176" y="1188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550408" y="1746504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MobileNet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86016" y="1627632"/>
            <a:ext cx="182880" cy="64008"/>
          </a:xfrm>
          <a:prstGeom prst="rect">
            <a:avLst/>
          </a:prstGeom>
          <a:solidFill>
            <a:srgbClr val="FF9800"/>
          </a:solidFill>
        </p:spPr>
      </p:sp>
      <p:sp>
        <p:nvSpPr>
          <p:cNvPr id="33" name="Text 31"/>
          <p:cNvSpPr/>
          <p:nvPr/>
        </p:nvSpPr>
        <p:spPr>
          <a:xfrm>
            <a:off x="7104888" y="1536192"/>
            <a:ext cx="137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9800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96328" y="1078992"/>
            <a:ext cx="1508760" cy="1188720"/>
          </a:xfrm>
          <a:prstGeom prst="rect">
            <a:avLst/>
          </a:prstGeom>
          <a:solidFill>
            <a:srgbClr val="1A3A6C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96328" y="1078992"/>
            <a:ext cx="1508760" cy="54864"/>
          </a:xfrm>
          <a:prstGeom prst="rect">
            <a:avLst/>
          </a:prstGeom>
          <a:solidFill>
            <a:srgbClr val="FFC107"/>
          </a:solidFill>
        </p:spPr>
      </p:sp>
      <p:sp>
        <p:nvSpPr>
          <p:cNvPr id="36" name="Shape 34"/>
          <p:cNvSpPr/>
          <p:nvPr/>
        </p:nvSpPr>
        <p:spPr>
          <a:xfrm>
            <a:off x="7699248" y="1188720"/>
            <a:ext cx="502920" cy="5029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99248" y="1188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269480" y="1746504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Confidence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Score Cᵢ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2468880"/>
            <a:ext cx="1508760" cy="1188720"/>
          </a:xfrm>
          <a:prstGeom prst="rect">
            <a:avLst/>
          </a:prstGeom>
          <a:solidFill>
            <a:srgbClr val="1A3A6C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2468880"/>
            <a:ext cx="1508760" cy="54864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41" name="Shape 39"/>
          <p:cNvSpPr/>
          <p:nvPr/>
        </p:nvSpPr>
        <p:spPr>
          <a:xfrm>
            <a:off x="822960" y="2578608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2578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93192" y="3136392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Wild Bear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Optimization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0" y="3017520"/>
            <a:ext cx="182880" cy="64008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45" name="Text 43"/>
          <p:cNvSpPr/>
          <p:nvPr/>
        </p:nvSpPr>
        <p:spPr>
          <a:xfrm>
            <a:off x="1947672" y="2926080"/>
            <a:ext cx="137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CAF50"/>
                </a:solidFill>
              </a:rPr>
              <a:t>▶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039112" y="2468880"/>
            <a:ext cx="1508760" cy="1188720"/>
          </a:xfrm>
          <a:prstGeom prst="rect">
            <a:avLst/>
          </a:prstGeom>
          <a:solidFill>
            <a:srgbClr val="1A3A6C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039112" y="2468880"/>
            <a:ext cx="1508760" cy="54864"/>
          </a:xfrm>
          <a:prstGeom prst="rect">
            <a:avLst/>
          </a:prstGeom>
          <a:solidFill>
            <a:srgbClr val="E91E63"/>
          </a:solidFill>
        </p:spPr>
      </p:sp>
      <p:sp>
        <p:nvSpPr>
          <p:cNvPr id="48" name="Shape 46"/>
          <p:cNvSpPr/>
          <p:nvPr/>
        </p:nvSpPr>
        <p:spPr>
          <a:xfrm>
            <a:off x="2542032" y="2578608"/>
            <a:ext cx="502920" cy="50292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42032" y="2578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2112264" y="3136392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Arbitration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Engine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547872" y="3017520"/>
            <a:ext cx="182880" cy="64008"/>
          </a:xfrm>
          <a:prstGeom prst="rect">
            <a:avLst/>
          </a:prstGeom>
          <a:solidFill>
            <a:srgbClr val="E91E63"/>
          </a:solidFill>
        </p:spPr>
      </p:sp>
      <p:sp>
        <p:nvSpPr>
          <p:cNvPr id="52" name="Text 50"/>
          <p:cNvSpPr/>
          <p:nvPr/>
        </p:nvSpPr>
        <p:spPr>
          <a:xfrm>
            <a:off x="3666744" y="2926080"/>
            <a:ext cx="137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91E63"/>
                </a:solidFill>
              </a:rPr>
              <a:t>▶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758184" y="2468880"/>
            <a:ext cx="1508760" cy="1188720"/>
          </a:xfrm>
          <a:prstGeom prst="rect">
            <a:avLst/>
          </a:prstGeom>
          <a:solidFill>
            <a:srgbClr val="1A3A6C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58184" y="2468880"/>
            <a:ext cx="1508760" cy="54864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55" name="Shape 53"/>
          <p:cNvSpPr/>
          <p:nvPr/>
        </p:nvSpPr>
        <p:spPr>
          <a:xfrm>
            <a:off x="4261104" y="2578608"/>
            <a:ext cx="502920" cy="5029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61104" y="2578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3831336" y="3136392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Memory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Allocation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66944" y="3017520"/>
            <a:ext cx="182880" cy="64008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59" name="Text 57"/>
          <p:cNvSpPr/>
          <p:nvPr/>
        </p:nvSpPr>
        <p:spPr>
          <a:xfrm>
            <a:off x="5385816" y="2926080"/>
            <a:ext cx="137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196F3"/>
                </a:solidFill>
              </a:rPr>
              <a:t>▶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477256" y="2468880"/>
            <a:ext cx="1508760" cy="1188720"/>
          </a:xfrm>
          <a:prstGeom prst="rect">
            <a:avLst/>
          </a:prstGeom>
          <a:solidFill>
            <a:srgbClr val="1A3A6C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477256" y="2468880"/>
            <a:ext cx="1508760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62" name="Shape 60"/>
          <p:cNvSpPr/>
          <p:nvPr/>
        </p:nvSpPr>
        <p:spPr>
          <a:xfrm>
            <a:off x="5980176" y="2578608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80176" y="2578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5550408" y="3136392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Task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Execution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986016" y="3017520"/>
            <a:ext cx="182880" cy="6400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66" name="Text 64"/>
          <p:cNvSpPr/>
          <p:nvPr/>
        </p:nvSpPr>
        <p:spPr>
          <a:xfrm>
            <a:off x="7104888" y="2926080"/>
            <a:ext cx="137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CD4"/>
                </a:solidFill>
              </a:rPr>
              <a:t>▶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196328" y="2468880"/>
            <a:ext cx="1508760" cy="1188720"/>
          </a:xfrm>
          <a:prstGeom prst="rect">
            <a:avLst/>
          </a:prstGeom>
          <a:solidFill>
            <a:srgbClr val="1A3A6C"/>
          </a:solidFill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196328" y="2468880"/>
            <a:ext cx="1508760" cy="54864"/>
          </a:xfrm>
          <a:prstGeom prst="rect">
            <a:avLst/>
          </a:prstGeom>
          <a:solidFill>
            <a:srgbClr val="607D8B"/>
          </a:solidFill>
        </p:spPr>
      </p:sp>
      <p:sp>
        <p:nvSpPr>
          <p:cNvPr id="69" name="Shape 67"/>
          <p:cNvSpPr/>
          <p:nvPr/>
        </p:nvSpPr>
        <p:spPr>
          <a:xfrm>
            <a:off x="7699248" y="2578608"/>
            <a:ext cx="502920" cy="502920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99248" y="2578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7269480" y="3136392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Feedback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</a:rPr>
              <a:t>Module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165592" y="2267712"/>
            <a:ext cx="64008" cy="201168"/>
          </a:xfrm>
          <a:prstGeom prst="rect">
            <a:avLst/>
          </a:prstGeom>
          <a:solidFill>
            <a:srgbClr val="FFC107"/>
          </a:solidFill>
        </p:spPr>
      </p:sp>
      <p:sp>
        <p:nvSpPr>
          <p:cNvPr id="73" name="Text 71"/>
          <p:cNvSpPr/>
          <p:nvPr/>
        </p:nvSpPr>
        <p:spPr>
          <a:xfrm>
            <a:off x="8046720" y="24048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107"/>
                </a:solidFill>
              </a:rPr>
              <a:t>▼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65760" y="379476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FA8"/>
                </a:solidFill>
              </a:rPr>
              <a:t>Pipeline Flow: Input → Processing → Classification → Scoring → Optimization → Arbitration → Execution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1020"/>
          </a:solidFill>
        </p:spPr>
      </p:sp>
      <p:sp>
        <p:nvSpPr>
          <p:cNvPr id="76" name="Text 7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D8B"/>
                </a:solidFill>
              </a:rPr>
              <a:t>Each stage feeds into the next, enabling real-time, confidence-weighted memory allocation across all agents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TECHNICAL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FC107"/>
          </a:solidFill>
        </p:spPr>
      </p:sp>
      <p:sp>
        <p:nvSpPr>
          <p:cNvPr id="5" name="Text 3"/>
          <p:cNvSpPr/>
          <p:nvPr/>
        </p:nvSpPr>
        <p:spPr>
          <a:xfrm>
            <a:off x="8503920" y="914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C107"/>
                </a:solidFill>
              </a:rPr>
              <a:t>05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160020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377440" y="1188720"/>
            <a:ext cx="594360" cy="256032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8" name="Text 6"/>
          <p:cNvSpPr/>
          <p:nvPr/>
        </p:nvSpPr>
        <p:spPr>
          <a:xfrm>
            <a:off x="2377440" y="118872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Novel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188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Confidence-Based Priority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Each agent assigned a dynamic confidence score Cᵢ reflecting data reliability. Priority Pᵢ is derived from these scores, not static rules.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115568"/>
            <a:ext cx="2743200" cy="160020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1188720"/>
            <a:ext cx="594360" cy="256032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14" name="Text 12"/>
          <p:cNvSpPr/>
          <p:nvPr/>
        </p:nvSpPr>
        <p:spPr>
          <a:xfrm>
            <a:off x="5303520" y="118872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Efficient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5848" y="1188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0" y="161848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MobileNet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1965960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Lightweight convolutional model for fast, accurate feature extraction — suitable for edge computing and real-time embedded systems.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115568"/>
            <a:ext cx="2743200" cy="160020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1188720"/>
            <a:ext cx="594360" cy="256032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20" name="Text 18"/>
          <p:cNvSpPr/>
          <p:nvPr/>
        </p:nvSpPr>
        <p:spPr>
          <a:xfrm>
            <a:off x="8229600" y="118872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Adaptive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81928" y="1188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9360" y="161848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 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965960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Bio-inspired metaheuristic algorithm dynamically calculates agent priorities by optimizing confidence scores in real-time.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44368"/>
            <a:ext cx="2743200" cy="160020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377440" y="3017520"/>
            <a:ext cx="594360" cy="256032"/>
          </a:xfrm>
          <a:prstGeom prst="rect">
            <a:avLst/>
          </a:prstGeom>
          <a:solidFill>
            <a:srgbClr val="FF9800"/>
          </a:solidFill>
        </p:spPr>
      </p:sp>
      <p:sp>
        <p:nvSpPr>
          <p:cNvPr id="26" name="Text 24"/>
          <p:cNvSpPr/>
          <p:nvPr/>
        </p:nvSpPr>
        <p:spPr>
          <a:xfrm>
            <a:off x="2377440" y="301752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9768" y="3017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344728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Real-Time Arbitration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794760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Memory arbitration engine selects highest-priority agent and executes allocation in microseconds — critical for autonomous systems.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2944368"/>
            <a:ext cx="2743200" cy="160020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03520" y="3017520"/>
            <a:ext cx="594360" cy="25603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2" name="Text 30"/>
          <p:cNvSpPr/>
          <p:nvPr/>
        </p:nvSpPr>
        <p:spPr>
          <a:xfrm>
            <a:off x="5303520" y="301752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Smart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55848" y="3017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383280" y="344728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Continuous Feedback Loop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83280" y="3794760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Optional feedback module monitors performance metrics and updates system parameters for self-improvement over time.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2944368"/>
            <a:ext cx="2743200" cy="160020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29600" y="3017520"/>
            <a:ext cx="594360" cy="256032"/>
          </a:xfrm>
          <a:prstGeom prst="rect">
            <a:avLst/>
          </a:prstGeom>
          <a:solidFill>
            <a:srgbClr val="E91E63"/>
          </a:solidFill>
        </p:spPr>
      </p:sp>
      <p:sp>
        <p:nvSpPr>
          <p:cNvPr id="38" name="Text 36"/>
          <p:cNvSpPr/>
          <p:nvPr/>
        </p:nvSpPr>
        <p:spPr>
          <a:xfrm>
            <a:off x="8229600" y="301752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Flexible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81928" y="3017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309360" y="344728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</a:rPr>
              <a:t>Multi-Source Input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09360" y="3794760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Accepts diverse agent inputs — images, sensor signals, network data — making the system applicable across many domains.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6C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COMPARISON WITH PRIOR 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5" name="Text 3"/>
          <p:cNvSpPr/>
          <p:nvPr/>
        </p:nvSpPr>
        <p:spPr>
          <a:xfrm>
            <a:off x="8503920" y="914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CD4"/>
                </a:solidFill>
              </a:rPr>
              <a:t>06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468880" cy="41148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7" name="Text 5"/>
          <p:cNvSpPr/>
          <p:nvPr/>
        </p:nvSpPr>
        <p:spPr>
          <a:xfrm>
            <a:off x="182880" y="1051560"/>
            <a:ext cx="246888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051560"/>
            <a:ext cx="1920240" cy="41148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9" name="Text 7"/>
          <p:cNvSpPr/>
          <p:nvPr/>
        </p:nvSpPr>
        <p:spPr>
          <a:xfrm>
            <a:off x="2743200" y="1051560"/>
            <a:ext cx="192024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 Logic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1371600" cy="41148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11" name="Text 9"/>
          <p:cNvSpPr/>
          <p:nvPr/>
        </p:nvSpPr>
        <p:spPr>
          <a:xfrm>
            <a:off x="4754880" y="1051560"/>
            <a:ext cx="137160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Adaptive?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834640" cy="41148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13" name="Text 11"/>
          <p:cNvSpPr/>
          <p:nvPr/>
        </p:nvSpPr>
        <p:spPr>
          <a:xfrm>
            <a:off x="6217920" y="1051560"/>
            <a:ext cx="283464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Drawback Overcome by Invention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1463040"/>
            <a:ext cx="246888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5" name="Text 13"/>
          <p:cNvSpPr/>
          <p:nvPr/>
        </p:nvSpPr>
        <p:spPr>
          <a:xfrm>
            <a:off x="246888" y="1463040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FCFS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0" y="1463040"/>
            <a:ext cx="192024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7" name="Text 15"/>
          <p:cNvSpPr/>
          <p:nvPr/>
        </p:nvSpPr>
        <p:spPr>
          <a:xfrm>
            <a:off x="2807208" y="1463040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None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1371600" cy="438912"/>
          </a:xfrm>
          <a:prstGeom prst="rect">
            <a:avLst/>
          </a:prstGeom>
          <a:solidFill>
            <a:srgbClr val="FFF3F3"/>
          </a:solidFill>
        </p:spPr>
      </p:sp>
      <p:sp>
        <p:nvSpPr>
          <p:cNvPr id="19" name="Text 17"/>
          <p:cNvSpPr/>
          <p:nvPr/>
        </p:nvSpPr>
        <p:spPr>
          <a:xfrm>
            <a:off x="4818888" y="1463040"/>
            <a:ext cx="124358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</a:rPr>
              <a:t>✗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283464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21" name="Text 19"/>
          <p:cNvSpPr/>
          <p:nvPr/>
        </p:nvSpPr>
        <p:spPr>
          <a:xfrm>
            <a:off x="6281928" y="1463040"/>
            <a:ext cx="27066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Uses confidence-based priority instead of arrival order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" y="1938528"/>
            <a:ext cx="246888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246888" y="1938528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Round Robin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0" y="1938528"/>
            <a:ext cx="19202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2807208" y="1938528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Equal slots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938528"/>
            <a:ext cx="1371600" cy="438912"/>
          </a:xfrm>
          <a:prstGeom prst="rect">
            <a:avLst/>
          </a:prstGeom>
          <a:solidFill>
            <a:srgbClr val="FFF3F3"/>
          </a:solidFill>
        </p:spPr>
      </p:sp>
      <p:sp>
        <p:nvSpPr>
          <p:cNvPr id="27" name="Text 25"/>
          <p:cNvSpPr/>
          <p:nvPr/>
        </p:nvSpPr>
        <p:spPr>
          <a:xfrm>
            <a:off x="4818888" y="1938528"/>
            <a:ext cx="124358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</a:rPr>
              <a:t>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1938528"/>
            <a:ext cx="28346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6281928" y="1938528"/>
            <a:ext cx="27066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Dynamic optimization replaces fixed equal allocation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2414016"/>
            <a:ext cx="246888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1" name="Text 29"/>
          <p:cNvSpPr/>
          <p:nvPr/>
        </p:nvSpPr>
        <p:spPr>
          <a:xfrm>
            <a:off x="246888" y="2414016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Static Priority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0" y="2414016"/>
            <a:ext cx="192024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3" name="Text 31"/>
          <p:cNvSpPr/>
          <p:nvPr/>
        </p:nvSpPr>
        <p:spPr>
          <a:xfrm>
            <a:off x="2807208" y="2414016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Fixed weights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414016"/>
            <a:ext cx="1371600" cy="438912"/>
          </a:xfrm>
          <a:prstGeom prst="rect">
            <a:avLst/>
          </a:prstGeom>
          <a:solidFill>
            <a:srgbClr val="FFF3F3"/>
          </a:solidFill>
        </p:spPr>
      </p:sp>
      <p:sp>
        <p:nvSpPr>
          <p:cNvPr id="35" name="Text 33"/>
          <p:cNvSpPr/>
          <p:nvPr/>
        </p:nvSpPr>
        <p:spPr>
          <a:xfrm>
            <a:off x="4818888" y="2414016"/>
            <a:ext cx="124358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</a:rPr>
              <a:t>✗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2414016"/>
            <a:ext cx="283464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7" name="Text 35"/>
          <p:cNvSpPr/>
          <p:nvPr/>
        </p:nvSpPr>
        <p:spPr>
          <a:xfrm>
            <a:off x="6281928" y="2414016"/>
            <a:ext cx="27066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AI-based adaptive system adjusts priorities dynamically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82880" y="2889504"/>
            <a:ext cx="246888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246888" y="2889504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Heuristic Scheduling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0" y="2889504"/>
            <a:ext cx="19202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2807208" y="2889504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Predefined rules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2889504"/>
            <a:ext cx="1371600" cy="438912"/>
          </a:xfrm>
          <a:prstGeom prst="rect">
            <a:avLst/>
          </a:prstGeom>
          <a:solidFill>
            <a:srgbClr val="F3FFF3"/>
          </a:solidFill>
        </p:spPr>
      </p:sp>
      <p:sp>
        <p:nvSpPr>
          <p:cNvPr id="43" name="Text 41"/>
          <p:cNvSpPr/>
          <p:nvPr/>
        </p:nvSpPr>
        <p:spPr>
          <a:xfrm>
            <a:off x="4818888" y="2889504"/>
            <a:ext cx="124358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CAF50"/>
                </a:solidFill>
              </a:rPr>
              <a:t>Partial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2889504"/>
            <a:ext cx="28346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6281928" y="2889504"/>
            <a:ext cx="27066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Auto-adapts via deep learning — no manual rule tuning needed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82880" y="3364992"/>
            <a:ext cx="246888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47" name="Text 45"/>
          <p:cNvSpPr/>
          <p:nvPr/>
        </p:nvSpPr>
        <p:spPr>
          <a:xfrm>
            <a:off x="246888" y="3364992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Basic AI Decision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0" y="3364992"/>
            <a:ext cx="192024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49" name="Text 47"/>
          <p:cNvSpPr/>
          <p:nvPr/>
        </p:nvSpPr>
        <p:spPr>
          <a:xfrm>
            <a:off x="2807208" y="3364992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AI prediction only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54880" y="3364992"/>
            <a:ext cx="1371600" cy="438912"/>
          </a:xfrm>
          <a:prstGeom prst="rect">
            <a:avLst/>
          </a:prstGeom>
          <a:solidFill>
            <a:srgbClr val="F3FFF3"/>
          </a:solidFill>
        </p:spPr>
      </p:sp>
      <p:sp>
        <p:nvSpPr>
          <p:cNvPr id="51" name="Text 49"/>
          <p:cNvSpPr/>
          <p:nvPr/>
        </p:nvSpPr>
        <p:spPr>
          <a:xfrm>
            <a:off x="4818888" y="3364992"/>
            <a:ext cx="124358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CAF50"/>
                </a:solidFill>
              </a:rPr>
              <a:t>Partial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0" y="3364992"/>
            <a:ext cx="283464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53" name="Text 51"/>
          <p:cNvSpPr/>
          <p:nvPr/>
        </p:nvSpPr>
        <p:spPr>
          <a:xfrm>
            <a:off x="6281928" y="3364992"/>
            <a:ext cx="27066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Directly integrates confidence scoring with arbitration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82880" y="3840480"/>
            <a:ext cx="246888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5" name="Text 53"/>
          <p:cNvSpPr/>
          <p:nvPr/>
        </p:nvSpPr>
        <p:spPr>
          <a:xfrm>
            <a:off x="246888" y="3840480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Centralized Allocation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743200" y="3840480"/>
            <a:ext cx="19202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2807208" y="3840480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Central controller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54880" y="3840480"/>
            <a:ext cx="1371600" cy="438912"/>
          </a:xfrm>
          <a:prstGeom prst="rect">
            <a:avLst/>
          </a:prstGeom>
          <a:solidFill>
            <a:srgbClr val="FFF3F3"/>
          </a:solidFill>
        </p:spPr>
      </p:sp>
      <p:sp>
        <p:nvSpPr>
          <p:cNvPr id="59" name="Text 57"/>
          <p:cNvSpPr/>
          <p:nvPr/>
        </p:nvSpPr>
        <p:spPr>
          <a:xfrm>
            <a:off x="4818888" y="3840480"/>
            <a:ext cx="124358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</a:rPr>
              <a:t>✗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17920" y="3840480"/>
            <a:ext cx="28346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6281928" y="3840480"/>
            <a:ext cx="27066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Distributed decision-making avoids bottlenecks and delays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82880" y="4315968"/>
            <a:ext cx="246888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63" name="Text 61"/>
          <p:cNvSpPr/>
          <p:nvPr/>
        </p:nvSpPr>
        <p:spPr>
          <a:xfrm>
            <a:off x="246888" y="4315968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Traditional MAS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743200" y="4315968"/>
            <a:ext cx="192024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65" name="Text 63"/>
          <p:cNvSpPr/>
          <p:nvPr/>
        </p:nvSpPr>
        <p:spPr>
          <a:xfrm>
            <a:off x="2807208" y="4315968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Manual coordination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754880" y="4315968"/>
            <a:ext cx="1371600" cy="438912"/>
          </a:xfrm>
          <a:prstGeom prst="rect">
            <a:avLst/>
          </a:prstGeom>
          <a:solidFill>
            <a:srgbClr val="FFF3F3"/>
          </a:solidFill>
        </p:spPr>
      </p:sp>
      <p:sp>
        <p:nvSpPr>
          <p:cNvPr id="67" name="Text 65"/>
          <p:cNvSpPr/>
          <p:nvPr/>
        </p:nvSpPr>
        <p:spPr>
          <a:xfrm>
            <a:off x="4818888" y="4315968"/>
            <a:ext cx="124358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5350"/>
                </a:solidFill>
              </a:rPr>
              <a:t>✗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217920" y="4315968"/>
            <a:ext cx="283464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69" name="Text 67"/>
          <p:cNvSpPr/>
          <p:nvPr/>
        </p:nvSpPr>
        <p:spPr>
          <a:xfrm>
            <a:off x="6281928" y="4315968"/>
            <a:ext cx="27066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Real-time confidence scores improve decision accuracy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" y="4791456"/>
            <a:ext cx="9052560" cy="411480"/>
          </a:xfrm>
          <a:prstGeom prst="rect">
            <a:avLst/>
          </a:prstGeom>
          <a:solidFill>
            <a:srgbClr val="E3F2FD"/>
          </a:solidFill>
        </p:spPr>
      </p:sp>
      <p:sp>
        <p:nvSpPr>
          <p:cNvPr id="71" name="Shape 69"/>
          <p:cNvSpPr/>
          <p:nvPr/>
        </p:nvSpPr>
        <p:spPr>
          <a:xfrm>
            <a:off x="45720" y="4791456"/>
            <a:ext cx="73152" cy="41148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72" name="Text 70"/>
          <p:cNvSpPr/>
          <p:nvPr/>
        </p:nvSpPr>
        <p:spPr>
          <a:xfrm>
            <a:off x="201168" y="4791456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C"/>
                </a:solidFill>
              </a:rPr>
              <a:t>✦ Our System: Confidence scoring + MobileNet + Wild Bear Optimization = Intelligent, adaptive, real-time memory arbitration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020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APPLICATIONS &amp;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C107"/>
          </a:solidFill>
        </p:spPr>
      </p:sp>
      <p:sp>
        <p:nvSpPr>
          <p:cNvPr id="5" name="Text 3"/>
          <p:cNvSpPr/>
          <p:nvPr/>
        </p:nvSpPr>
        <p:spPr>
          <a:xfrm>
            <a:off x="8503920" y="914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C107"/>
                </a:solidFill>
              </a:rPr>
              <a:t>07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691640"/>
          </a:xfrm>
          <a:prstGeom prst="rect">
            <a:avLst/>
          </a:prstGeom>
          <a:solidFill>
            <a:srgbClr val="1A3A6C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734056"/>
            <a:ext cx="2743200" cy="54864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8" name="Text 6"/>
          <p:cNvSpPr/>
          <p:nvPr/>
        </p:nvSpPr>
        <p:spPr>
          <a:xfrm>
            <a:off x="365760" y="120700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🚗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51560" y="1207008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96F3"/>
                </a:solidFill>
              </a:rPr>
              <a:t>Autonomous Vehicles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783080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B4CC"/>
                </a:solidFill>
              </a:rPr>
              <a:t>Real-time sensor fusion between camera, LiDAR, and RADAR agents requires fast, prioritized memory access.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82112" y="1097280"/>
            <a:ext cx="2743200" cy="1691640"/>
          </a:xfrm>
          <a:prstGeom prst="rect">
            <a:avLst/>
          </a:prstGeom>
          <a:solidFill>
            <a:srgbClr val="1A3A6C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2734056"/>
            <a:ext cx="2743200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3" name="Text 11"/>
          <p:cNvSpPr/>
          <p:nvPr/>
        </p:nvSpPr>
        <p:spPr>
          <a:xfrm>
            <a:off x="3273552" y="120700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959352" y="1207008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CD4"/>
                </a:solidFill>
              </a:rPr>
              <a:t>Robotics Coordination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783080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B4CC"/>
                </a:solidFill>
              </a:rPr>
              <a:t>Multiple robot arms sharing workspace data need intelligent memory arbitration to avoid collision and delays.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1097280"/>
            <a:ext cx="2743200" cy="1691640"/>
          </a:xfrm>
          <a:prstGeom prst="rect">
            <a:avLst/>
          </a:prstGeom>
          <a:solidFill>
            <a:srgbClr val="1A3A6C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2734056"/>
            <a:ext cx="2743200" cy="54864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18" name="Text 16"/>
          <p:cNvSpPr/>
          <p:nvPr/>
        </p:nvSpPr>
        <p:spPr>
          <a:xfrm>
            <a:off x="6181344" y="120700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📹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67144" y="1207008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27B0"/>
                </a:solidFill>
              </a:rPr>
              <a:t>Surveillance Systems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9632" y="1783080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B4CC"/>
                </a:solidFill>
              </a:rPr>
              <a:t>Concurrent video streams from multiple cameras processed by agent nodes — critical data gets memory priority.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2743200" cy="1691640"/>
          </a:xfrm>
          <a:prstGeom prst="rect">
            <a:avLst/>
          </a:prstGeom>
          <a:solidFill>
            <a:srgbClr val="1A3A6C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608576"/>
            <a:ext cx="2743200" cy="54864"/>
          </a:xfrm>
          <a:prstGeom prst="rect">
            <a:avLst/>
          </a:prstGeom>
          <a:solidFill>
            <a:srgbClr val="FF9800"/>
          </a:solidFill>
        </p:spPr>
      </p:sp>
      <p:sp>
        <p:nvSpPr>
          <p:cNvPr id="23" name="Text 21"/>
          <p:cNvSpPr/>
          <p:nvPr/>
        </p:nvSpPr>
        <p:spPr>
          <a:xfrm>
            <a:off x="365760" y="308152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51560" y="3081528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800"/>
                </a:solidFill>
              </a:rPr>
              <a:t>Cloud / Edge Computing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657600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B4CC"/>
                </a:solidFill>
              </a:rPr>
              <a:t>Distributed workloads across edge nodes benefit from dynamic memory allocation based on task confidence.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82112" y="2971800"/>
            <a:ext cx="2743200" cy="1691640"/>
          </a:xfrm>
          <a:prstGeom prst="rect">
            <a:avLst/>
          </a:prstGeom>
          <a:solidFill>
            <a:srgbClr val="1A3A6C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82112" y="4608576"/>
            <a:ext cx="2743200" cy="54864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28" name="Text 26"/>
          <p:cNvSpPr/>
          <p:nvPr/>
        </p:nvSpPr>
        <p:spPr>
          <a:xfrm>
            <a:off x="3273552" y="308152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959352" y="3081528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CAF50"/>
                </a:solidFill>
              </a:rPr>
              <a:t>Industrial Automation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657600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B4CC"/>
                </a:solidFill>
              </a:rPr>
              <a:t>Factory floor machines sharing PLCs and controllers require real-time, reliable memory scheduling.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9904" y="2971800"/>
            <a:ext cx="2743200" cy="1691640"/>
          </a:xfrm>
          <a:prstGeom prst="rect">
            <a:avLst/>
          </a:prstGeom>
          <a:solidFill>
            <a:srgbClr val="1A3A6C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9904" y="4608576"/>
            <a:ext cx="2743200" cy="54864"/>
          </a:xfrm>
          <a:prstGeom prst="rect">
            <a:avLst/>
          </a:prstGeom>
          <a:solidFill>
            <a:srgbClr val="E91E63"/>
          </a:solidFill>
        </p:spPr>
      </p:sp>
      <p:sp>
        <p:nvSpPr>
          <p:cNvPr id="33" name="Text 31"/>
          <p:cNvSpPr/>
          <p:nvPr/>
        </p:nvSpPr>
        <p:spPr>
          <a:xfrm>
            <a:off x="6181344" y="308152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867144" y="3081528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1E63"/>
                </a:solidFill>
              </a:rPr>
              <a:t>Smart Healthcare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99632" y="3657600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B4CC"/>
                </a:solidFill>
              </a:rPr>
              <a:t>Multi-sensor patient monitoring systems need prioritized memory for critical vital sign agents.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NOVELTY &amp; PATENTABILITY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5" name="Text 3"/>
          <p:cNvSpPr/>
          <p:nvPr/>
        </p:nvSpPr>
        <p:spPr>
          <a:xfrm>
            <a:off x="8503920" y="914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196F3"/>
                </a:solidFill>
              </a:rPr>
              <a:t>08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7" name="Text 5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Makes This Invention Novel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4114800" cy="5486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64208"/>
            <a:ext cx="320040" cy="3200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572768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First integration of confidence scoring with shared memory arbitration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4114800" cy="5486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320040" cy="3200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860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2194560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Wild Bear Optimization Algorithm applied to multi-agent priority scheduling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98064"/>
            <a:ext cx="4114800" cy="5486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07792"/>
            <a:ext cx="320040" cy="3200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0779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2816352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MobileNet used for real-time agent feature classification in arbitration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419856"/>
            <a:ext cx="4114800" cy="5486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29584"/>
            <a:ext cx="320040" cy="3200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29584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438144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Self-adaptive system with optional continuous feedback loop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041648"/>
            <a:ext cx="4114800" cy="5486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51376"/>
            <a:ext cx="320040" cy="3200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51376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4059936"/>
            <a:ext cx="34747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Outperforms FCFS, Round Robin &amp; Static Priority in accuracy and speed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4160520" cy="3657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9" name="Text 27"/>
          <p:cNvSpPr/>
          <p:nvPr/>
        </p:nvSpPr>
        <p:spPr>
          <a:xfrm>
            <a:off x="4709160" y="109728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Patent Claims (Summary)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1554480"/>
            <a:ext cx="4160520" cy="74980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554480"/>
            <a:ext cx="73152" cy="7498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2" name="Text 30"/>
          <p:cNvSpPr/>
          <p:nvPr/>
        </p:nvSpPr>
        <p:spPr>
          <a:xfrm>
            <a:off x="4828032" y="157276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Claim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28032" y="182880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 system for shared memory arbitration using deep learning confidence scores in multi-agent environments.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377440"/>
            <a:ext cx="4160520" cy="74980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377440"/>
            <a:ext cx="73152" cy="7498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6" name="Text 34"/>
          <p:cNvSpPr/>
          <p:nvPr/>
        </p:nvSpPr>
        <p:spPr>
          <a:xfrm>
            <a:off x="4828032" y="23957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Claim 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28032" y="265176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The use of MobileNet for lightweight, real-time classification and confidence score generation per agent.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3200400"/>
            <a:ext cx="4160520" cy="74980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200400"/>
            <a:ext cx="73152" cy="7498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0" name="Text 38"/>
          <p:cNvSpPr/>
          <p:nvPr/>
        </p:nvSpPr>
        <p:spPr>
          <a:xfrm>
            <a:off x="4828032" y="321868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Claim 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28032" y="347472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Application of Wild Bear Optimization to compute dynamic priority values from confidence scores.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4023360"/>
            <a:ext cx="4160520" cy="74980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4023360"/>
            <a:ext cx="73152" cy="7498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4" name="Text 42"/>
          <p:cNvSpPr/>
          <p:nvPr/>
        </p:nvSpPr>
        <p:spPr>
          <a:xfrm>
            <a:off x="4828032" y="404164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Claim 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28032" y="429768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 feedback module enabling continuous self-improvement of the arbitration system.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6C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IMPLEMENTATION &amp;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5" name="Text 3"/>
          <p:cNvSpPr/>
          <p:nvPr/>
        </p:nvSpPr>
        <p:spPr>
          <a:xfrm>
            <a:off x="8503920" y="914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CD4"/>
                </a:solidFill>
              </a:rPr>
              <a:t>09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3931920" cy="34747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7" name="Text 5"/>
          <p:cNvSpPr/>
          <p:nvPr/>
        </p:nvSpPr>
        <p:spPr>
          <a:xfrm>
            <a:off x="274320" y="107899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 Stack &amp; Setup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393192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9" name="Text 7"/>
          <p:cNvSpPr/>
          <p:nvPr/>
        </p:nvSpPr>
        <p:spPr>
          <a:xfrm>
            <a:off x="347472" y="1508760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Language: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508760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Python 3.x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84248"/>
            <a:ext cx="393192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347472" y="1984248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Framework: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1984248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TensorFlow / Keras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59736"/>
            <a:ext cx="393192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5" name="Text 13"/>
          <p:cNvSpPr/>
          <p:nvPr/>
        </p:nvSpPr>
        <p:spPr>
          <a:xfrm>
            <a:off x="347472" y="2459736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Model: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2459736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MobileNet (pretrained)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393192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347472" y="2935224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Algorithm: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2935224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Wild Bear Optimization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10712"/>
            <a:ext cx="3931920" cy="43891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21" name="Text 19"/>
          <p:cNvSpPr/>
          <p:nvPr/>
        </p:nvSpPr>
        <p:spPr>
          <a:xfrm>
            <a:off x="347472" y="3410712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Simulation: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3410712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Multi-agent environment (simulated)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886200"/>
            <a:ext cx="393192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347472" y="3886200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Institution: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3886200"/>
            <a:ext cx="2377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SR University, Warangal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078992"/>
            <a:ext cx="4251960" cy="34747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7" name="Text 25"/>
          <p:cNvSpPr/>
          <p:nvPr/>
        </p:nvSpPr>
        <p:spPr>
          <a:xfrm>
            <a:off x="4617720" y="1078992"/>
            <a:ext cx="4251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 vs Traditional Methods</a:t>
            </a:r>
            <a:endParaRPr lang="en-US" sz="13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617720" y="1463040"/>
          <a:ext cx="42519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4617720" y="3913632"/>
            <a:ext cx="1325880" cy="1005840"/>
          </a:xfrm>
          <a:prstGeom prst="rect">
            <a:avLst/>
          </a:prstGeom>
          <a:solidFill>
            <a:srgbClr val="F0F4F8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17720" y="3913632"/>
            <a:ext cx="1325880" cy="54864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31" name="Text 28"/>
          <p:cNvSpPr/>
          <p:nvPr/>
        </p:nvSpPr>
        <p:spPr>
          <a:xfrm>
            <a:off x="4617720" y="397764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AF50"/>
                </a:solidFill>
              </a:rPr>
              <a:t>91%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4617720" y="440740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Accuracy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617720" y="461772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vs 62-71% traditional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035040" y="3913632"/>
            <a:ext cx="1325880" cy="1005840"/>
          </a:xfrm>
          <a:prstGeom prst="rect">
            <a:avLst/>
          </a:prstGeom>
          <a:solidFill>
            <a:srgbClr val="F0F4F8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035040" y="3913632"/>
            <a:ext cx="1325880" cy="54864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36" name="Text 33"/>
          <p:cNvSpPr/>
          <p:nvPr/>
        </p:nvSpPr>
        <p:spPr>
          <a:xfrm>
            <a:off x="6035040" y="397764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96F3"/>
                </a:solidFill>
              </a:rPr>
              <a:t>↓ 38%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6035040" y="440740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Latency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035040" y="461772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faster than FCFS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452360" y="3913632"/>
            <a:ext cx="1325880" cy="1005840"/>
          </a:xfrm>
          <a:prstGeom prst="rect">
            <a:avLst/>
          </a:prstGeom>
          <a:solidFill>
            <a:srgbClr val="F0F4F8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52360" y="3913632"/>
            <a:ext cx="1325880" cy="54864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41" name="Text 38"/>
          <p:cNvSpPr/>
          <p:nvPr/>
        </p:nvSpPr>
        <p:spPr>
          <a:xfrm>
            <a:off x="7452360" y="397764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C27B0"/>
                </a:solidFill>
              </a:rPr>
              <a:t>↓ 54%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7452360" y="440740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Conflicts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452360" y="461772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fewer memory conflicts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6C"/>
          </a:solidFill>
        </p:spPr>
      </p:sp>
      <p:sp>
        <p:nvSpPr>
          <p:cNvPr id="3" name="Shape 1"/>
          <p:cNvSpPr/>
          <p:nvPr/>
        </p:nvSpPr>
        <p:spPr>
          <a:xfrm>
            <a:off x="5925312" y="0"/>
            <a:ext cx="73152" cy="514350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4" name="Text 2"/>
          <p:cNvSpPr/>
          <p:nvPr/>
        </p:nvSpPr>
        <p:spPr>
          <a:xfrm>
            <a:off x="8503920" y="1828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196F3"/>
                </a:solidFill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828800" cy="4572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7" name="Shape 5"/>
          <p:cNvSpPr/>
          <p:nvPr/>
        </p:nvSpPr>
        <p:spPr>
          <a:xfrm>
            <a:off x="365760" y="1325880"/>
            <a:ext cx="274320" cy="2743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325880"/>
            <a:ext cx="5029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Unique fusion of deep learning and resource management not seen in prior art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274320" cy="2743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965960"/>
            <a:ext cx="5029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Confidence scores provide non-obvious, data-driven priority allocation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274320" cy="2743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060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2606040"/>
            <a:ext cx="5029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Wild Bear Optimization + MobileNet form a novel, efficient combination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274320" cy="2743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461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3246120"/>
            <a:ext cx="5029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Proven performance gains: 91% accuracy, 38% lower latency, 54% fewer conflicts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274320" cy="2743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86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3886200"/>
            <a:ext cx="5029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Scalable to autonomous vehicles, robotics, cloud, and healthcare domains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80760" y="3657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</a:rPr>
              <a:t>SR UNIVERSITY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80760" y="7498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B3D3"/>
                </a:solidFill>
              </a:rPr>
              <a:t>Patent Disclosure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188720"/>
            <a:ext cx="2468880" cy="27432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25" name="Text 23"/>
          <p:cNvSpPr/>
          <p:nvPr/>
        </p:nvSpPr>
        <p:spPr>
          <a:xfrm>
            <a:off x="6080760" y="13258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107"/>
                </a:solidFill>
              </a:rPr>
              <a:t>Inventors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169164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</a:rPr>
              <a:t>Mr. Naresh Kumar Sripada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075688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</a:rPr>
              <a:t>Ms. Niharika Pasunuri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2459736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</a:rPr>
              <a:t>Mr. Bhargava Chary Bandloju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2843784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</a:rPr>
              <a:t>Ms. Sushmitha Uppula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322783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</a:rPr>
              <a:t>Mr. Sandeep Denchanadula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749040"/>
            <a:ext cx="2468880" cy="27432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32" name="Text 30"/>
          <p:cNvSpPr/>
          <p:nvPr/>
        </p:nvSpPr>
        <p:spPr>
          <a:xfrm>
            <a:off x="6080760" y="38404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</a:rPr>
              <a:t>CS&amp;AI / CSE Department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</a:rPr>
              <a:t>Ananthasagar, Warangal Urban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</a:rPr>
              <a:t>Telangana - 506371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5925312" cy="342900"/>
          </a:xfrm>
          <a:prstGeom prst="rect">
            <a:avLst/>
          </a:prstGeom>
          <a:solidFill>
            <a:srgbClr val="061020"/>
          </a:solidFill>
        </p:spPr>
      </p:sp>
      <p:sp>
        <p:nvSpPr>
          <p:cNvPr id="34" name="Text 32"/>
          <p:cNvSpPr/>
          <p:nvPr/>
        </p:nvSpPr>
        <p:spPr>
          <a:xfrm>
            <a:off x="137160" y="4800600"/>
            <a:ext cx="562356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</a:rPr>
              <a:t>Confidential &amp; Attorney-Client Privileged  |  Do Not Distribute Without Authorization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6724650" cy="1325880"/>
          </a:xfrm>
        </p:spPr>
        <p:txBody>
          <a:bodyPr/>
          <a:p>
            <a:r>
              <a:rPr lang="en-US" sz="1800"/>
              <a:t>WEBSITE URL: </a:t>
            </a:r>
            <a:r>
              <a:rPr lang="en-US" altLang="en-US" sz="1800">
                <a:hlinkClick r:id="rId1" tooltip="" action="ppaction://hlinkfile"/>
              </a:rPr>
              <a:t>https://niharika1694.github.io/SMART-TRAFFIC_AIAC/</a:t>
            </a:r>
            <a:endParaRPr lang="en-US" altLang="en-US" sz="180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51130" y="928370"/>
            <a:ext cx="8868410" cy="3985895"/>
          </a:xfrm>
        </p:spPr>
        <p:txBody>
          <a:bodyPr/>
          <a:p>
            <a:r>
              <a:rPr lang="en-US"/>
              <a:t>.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55" y="916940"/>
            <a:ext cx="8602345" cy="38360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6822</Words>
  <Application>WPS Presentation</Application>
  <PresentationFormat>On-screen Show (16:9)</PresentationFormat>
  <Paragraphs>458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Learning-Driven Confidence-Weighted Shared Memory Arbitration</dc:title>
  <dc:creator>PptxGenJS</dc:creator>
  <dc:subject>PptxGenJS Presentation</dc:subject>
  <cp:lastModifiedBy>Niharika Pasunuri</cp:lastModifiedBy>
  <cp:revision>2</cp:revision>
  <dcterms:created xsi:type="dcterms:W3CDTF">2026-04-19T17:18:00Z</dcterms:created>
  <dcterms:modified xsi:type="dcterms:W3CDTF">2026-04-20T06:28:44Z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9AE5D9F0552C48BBBD98D17AE50E5DE2_13</vt:lpwstr>
  </property>
</Properties>
</file>